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3112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1321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457200"/>
            <a:ext cx="4572000" cy="36576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4114800" cy="3200400"/>
          </a:xfrm>
          <a:prstGeom prst="ellipse">
            <a:avLst/>
          </a:prstGeom>
          <a:solidFill>
            <a:srgbClr val="BE185D">
              <a:alpha val="10000"/>
            </a:srgbClr>
          </a:solidFill>
          <a:ln w="12700">
            <a:solidFill>
              <a:srgbClr val="BE185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463040"/>
            <a:ext cx="64008" cy="2286000"/>
          </a:xfrm>
          <a:prstGeom prst="rect">
            <a:avLst/>
          </a:prstGeom>
          <a:solidFill>
            <a:srgbClr val="E8D5B0"/>
          </a:solidFill>
          <a:ln w="12700">
            <a:solidFill>
              <a:srgbClr val="E8D5B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2A2210"/>
          </a:solidFill>
          <a:ln w="6350">
            <a:solidFill>
              <a:srgbClr val="C9A9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C9A96E"/>
                </a:solidFill>
              </a:rPr>
              <a:t>AI MOOD COMPANION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85800" y="1810512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i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Moodie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685800" y="30175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E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 it. Understand it. Act on it.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44805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 </a:t>
            </a:r>
            <a:r>
              <a:rPr lang="en-US" sz="1100" dirty="0">
                <a:solidFill>
                  <a:srgbClr val="6B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Team COGNIFORGE  •  Team of 4 members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132320" y="9144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A2E0A"/>
          </a:solidFill>
          <a:ln w="8890">
            <a:solidFill>
              <a:srgbClr val="A3C9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0" y="9144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E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😊 Happy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132320" y="146304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0A1A2E"/>
          </a:solidFill>
          <a:ln w="8890">
            <a:solidFill>
              <a:srgbClr val="7AAF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0" y="14630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E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😔 Sad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132320" y="201168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2E2100"/>
          </a:solidFill>
          <a:ln w="8890">
            <a:solidFill>
              <a:srgbClr val="E8C9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0" y="20116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E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😰 Anxious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132320" y="256032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2E0A0A"/>
          </a:solidFill>
          <a:ln w="8890">
            <a:solidFill>
              <a:srgbClr val="E87A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0" y="25603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E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😠 Angry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132320" y="310896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A0A2E"/>
          </a:solidFill>
          <a:ln w="8890">
            <a:solidFill>
              <a:srgbClr val="B07A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0" y="31089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E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😴 Tired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132320" y="36576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8890">
            <a:solidFill>
              <a:srgbClr val="9E9A9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0" y="36576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E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😐 Meh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-914400"/>
            <a:ext cx="5486400" cy="3657600"/>
          </a:xfrm>
          <a:prstGeom prst="ellipse">
            <a:avLst/>
          </a:prstGeom>
          <a:solidFill>
            <a:srgbClr val="7C3AED">
              <a:alpha val="8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&amp; Our Solution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50392"/>
            <a:ext cx="8229600" cy="9144"/>
          </a:xfrm>
          <a:prstGeom prst="rect">
            <a:avLst/>
          </a:prstGeom>
          <a:solidFill>
            <a:srgbClr val="6B6860">
              <a:alpha val="40000"/>
            </a:srgbClr>
          </a:solidFill>
          <a:ln w="12700">
            <a:solidFill>
              <a:srgbClr val="6B6860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3840480" cy="3291840"/>
          </a:xfrm>
          <a:prstGeom prst="rect">
            <a:avLst/>
          </a:prstGeom>
          <a:solidFill>
            <a:srgbClr val="161616"/>
          </a:solidFill>
          <a:ln w="10160">
            <a:solidFill>
              <a:srgbClr val="2E0A0A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3840480" cy="54864"/>
          </a:xfrm>
          <a:prstGeom prst="rect">
            <a:avLst/>
          </a:prstGeom>
          <a:solidFill>
            <a:srgbClr val="E87A7A"/>
          </a:solidFill>
          <a:ln w="12700">
            <a:solidFill>
              <a:srgbClr val="E87A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E8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" y="1719072"/>
            <a:ext cx="118872" cy="118872"/>
          </a:xfrm>
          <a:prstGeom prst="ellipse">
            <a:avLst/>
          </a:prstGeom>
          <a:solidFill>
            <a:srgbClr val="E87A7A"/>
          </a:solidFill>
          <a:ln w="12700">
            <a:solidFill>
              <a:srgbClr val="E87A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6420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E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feel bad but don't know what to do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58368" y="2377440"/>
            <a:ext cx="118872" cy="118872"/>
          </a:xfrm>
          <a:prstGeom prst="ellipse">
            <a:avLst/>
          </a:prstGeom>
          <a:solidFill>
            <a:srgbClr val="E87A7A"/>
          </a:solidFill>
          <a:ln w="12700">
            <a:solidFill>
              <a:srgbClr val="E87A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322576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E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advice doesn't fit your emotional state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58368" y="3035808"/>
            <a:ext cx="118872" cy="118872"/>
          </a:xfrm>
          <a:prstGeom prst="ellipse">
            <a:avLst/>
          </a:prstGeom>
          <a:solidFill>
            <a:srgbClr val="E87A7A"/>
          </a:solidFill>
          <a:ln w="12700">
            <a:solidFill>
              <a:srgbClr val="E87A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980944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E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app connects mood to action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8368" y="3694176"/>
            <a:ext cx="118872" cy="118872"/>
          </a:xfrm>
          <a:prstGeom prst="ellipse">
            <a:avLst/>
          </a:prstGeom>
          <a:solidFill>
            <a:srgbClr val="E87A7A"/>
          </a:solidFill>
          <a:ln w="12700">
            <a:solidFill>
              <a:srgbClr val="E87A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639312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E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wellness tools are often clinical and cold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846320" y="1051560"/>
            <a:ext cx="3840480" cy="3291840"/>
          </a:xfrm>
          <a:prstGeom prst="rect">
            <a:avLst/>
          </a:prstGeom>
          <a:solidFill>
            <a:srgbClr val="161616"/>
          </a:solidFill>
          <a:ln w="10160">
            <a:solidFill>
              <a:srgbClr val="0A2E1A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1051560"/>
            <a:ext cx="3840480" cy="54864"/>
          </a:xfrm>
          <a:prstGeom prst="rect">
            <a:avLst/>
          </a:prstGeom>
          <a:solidFill>
            <a:srgbClr val="5DCAA5"/>
          </a:solidFill>
          <a:ln w="12700">
            <a:solidFill>
              <a:srgbClr val="5DCA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47488" y="1719072"/>
            <a:ext cx="118872" cy="118872"/>
          </a:xfrm>
          <a:prstGeom prst="ellipse">
            <a:avLst/>
          </a:prstGeom>
          <a:solidFill>
            <a:srgbClr val="5DCAA5"/>
          </a:solidFill>
          <a:ln w="12700">
            <a:solidFill>
              <a:srgbClr val="5DCAA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57800" y="166420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E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picks from 6 mood states with one tap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047488" y="2377440"/>
            <a:ext cx="118872" cy="118872"/>
          </a:xfrm>
          <a:prstGeom prst="ellipse">
            <a:avLst/>
          </a:prstGeom>
          <a:solidFill>
            <a:srgbClr val="5DCAA5"/>
          </a:solidFill>
          <a:ln w="12700">
            <a:solidFill>
              <a:srgbClr val="5DCA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57800" y="2322576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E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LLM generates 3 personalised tasks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047488" y="3035808"/>
            <a:ext cx="118872" cy="118872"/>
          </a:xfrm>
          <a:prstGeom prst="ellipse">
            <a:avLst/>
          </a:prstGeom>
          <a:solidFill>
            <a:srgbClr val="5DCAA5"/>
          </a:solidFill>
          <a:ln w="12700">
            <a:solidFill>
              <a:srgbClr val="5DCAA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57800" y="2980944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E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suggestions tailored to that emotion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047488" y="3694176"/>
            <a:ext cx="118872" cy="118872"/>
          </a:xfrm>
          <a:prstGeom prst="ellipse">
            <a:avLst/>
          </a:prstGeom>
          <a:solidFill>
            <a:srgbClr val="5DCAA5"/>
          </a:solidFill>
          <a:ln w="12700">
            <a:solidFill>
              <a:srgbClr val="5DCAA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57800" y="3639312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E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 companion for deeper conversation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169664" y="2395728"/>
            <a:ext cx="804672" cy="384048"/>
          </a:xfrm>
          <a:prstGeom prst="roundRect">
            <a:avLst>
              <a:gd name="adj" fmla="val 23810"/>
            </a:avLst>
          </a:prstGeom>
          <a:solidFill>
            <a:srgbClr val="E8D5B0"/>
          </a:solidFill>
          <a:ln w="12700">
            <a:solidFill>
              <a:srgbClr val="E8D5B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69664" y="2395728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0D0D"/>
                </a:solidFill>
              </a:rPr>
              <a:t>→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1828800"/>
            <a:ext cx="3657600" cy="3657600"/>
          </a:xfrm>
          <a:prstGeom prst="ellipse">
            <a:avLst/>
          </a:prstGeom>
          <a:solidFill>
            <a:srgbClr val="0D9488">
              <a:alpha val="8000"/>
            </a:srgbClr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50392"/>
            <a:ext cx="8229600" cy="9144"/>
          </a:xfrm>
          <a:prstGeom prst="rect">
            <a:avLst/>
          </a:prstGeom>
          <a:solidFill>
            <a:srgbClr val="6B6860">
              <a:alpha val="40000"/>
            </a:srgbClr>
          </a:solidFill>
          <a:ln w="12700">
            <a:solidFill>
              <a:srgbClr val="6B6860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51560"/>
            <a:ext cx="1920240" cy="2331720"/>
          </a:xfrm>
          <a:prstGeom prst="rect">
            <a:avLst/>
          </a:prstGeom>
          <a:solidFill>
            <a:srgbClr val="161616"/>
          </a:solidFill>
          <a:ln w="6350">
            <a:solidFill>
              <a:srgbClr val="1E1E1E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051560"/>
            <a:ext cx="1920240" cy="50292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188720"/>
            <a:ext cx="1700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HTML5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1208" y="1719072"/>
            <a:ext cx="1700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E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structure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E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all screens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06040" y="1051560"/>
            <a:ext cx="1920240" cy="2331720"/>
          </a:xfrm>
          <a:prstGeom prst="rect">
            <a:avLst/>
          </a:prstGeom>
          <a:solidFill>
            <a:srgbClr val="161616"/>
          </a:solidFill>
          <a:ln w="6350">
            <a:solidFill>
              <a:srgbClr val="1E1E1E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06040" y="1051560"/>
            <a:ext cx="1920240" cy="50292"/>
          </a:xfrm>
          <a:prstGeom prst="rect">
            <a:avLst/>
          </a:prstGeom>
          <a:solidFill>
            <a:srgbClr val="7EB8E8"/>
          </a:solidFill>
          <a:ln w="12700">
            <a:solidFill>
              <a:srgbClr val="7EB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15768" y="1188720"/>
            <a:ext cx="1700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CSS3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15768" y="1719072"/>
            <a:ext cx="1700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E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theme,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E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00600" y="1051560"/>
            <a:ext cx="1920240" cy="2331720"/>
          </a:xfrm>
          <a:prstGeom prst="rect">
            <a:avLst/>
          </a:prstGeom>
          <a:solidFill>
            <a:srgbClr val="161616"/>
          </a:solidFill>
          <a:ln w="6350">
            <a:solidFill>
              <a:srgbClr val="1E1E1E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1051560"/>
            <a:ext cx="1920240" cy="50292"/>
          </a:xfrm>
          <a:prstGeom prst="rect">
            <a:avLst/>
          </a:prstGeom>
          <a:solidFill>
            <a:srgbClr val="E8D57C"/>
          </a:solidFill>
          <a:ln w="12700">
            <a:solidFill>
              <a:srgbClr val="E8D5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0328" y="1188720"/>
            <a:ext cx="1700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JavaScript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10328" y="1719072"/>
            <a:ext cx="1700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E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Logic, routing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E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API calls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95160" y="1051560"/>
            <a:ext cx="1920240" cy="2331720"/>
          </a:xfrm>
          <a:prstGeom prst="rect">
            <a:avLst/>
          </a:prstGeom>
          <a:solidFill>
            <a:srgbClr val="161616"/>
          </a:solidFill>
          <a:ln w="6350">
            <a:solidFill>
              <a:srgbClr val="1E1E1E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95160" y="1051560"/>
            <a:ext cx="1920240" cy="5029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04888" y="1188720"/>
            <a:ext cx="1700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API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104888" y="1719072"/>
            <a:ext cx="1700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E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LLM-powered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E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responses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3657600"/>
            <a:ext cx="1600200" cy="347472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8890">
            <a:solidFill>
              <a:srgbClr val="6B68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65760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E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Framework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148840" y="3657600"/>
            <a:ext cx="1600200" cy="347472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8890">
            <a:solidFill>
              <a:srgbClr val="6B68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48840" y="365760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E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Backend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886200" y="3657600"/>
            <a:ext cx="1600200" cy="347472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8890">
            <a:solidFill>
              <a:srgbClr val="6B68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86200" y="365760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E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HTML file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623560" y="3657600"/>
            <a:ext cx="1600200" cy="347472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8890">
            <a:solidFill>
              <a:srgbClr val="6B68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23560" y="365760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E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install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360920" y="3657600"/>
            <a:ext cx="1600200" cy="347472"/>
          </a:xfrm>
          <a:prstGeom prst="roundRect">
            <a:avLst>
              <a:gd name="adj" fmla="val 50000"/>
            </a:avLst>
          </a:prstGeom>
          <a:solidFill>
            <a:srgbClr val="1A0A2E"/>
          </a:solidFill>
          <a:ln w="8890">
            <a:solidFill>
              <a:srgbClr val="A78BF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60920" y="365760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E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Powered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4206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client-side Single Page Application — opens in any browser, no server or installation needed.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4572000" cy="3657600"/>
          </a:xfrm>
          <a:prstGeom prst="ellipse">
            <a:avLst/>
          </a:prstGeom>
          <a:solidFill>
            <a:srgbClr val="BE185D">
              <a:alpha val="8000"/>
            </a:srgbClr>
          </a:solidFill>
          <a:ln w="12700">
            <a:solidFill>
              <a:srgbClr val="BE185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50392"/>
            <a:ext cx="8229600" cy="9144"/>
          </a:xfrm>
          <a:prstGeom prst="rect">
            <a:avLst/>
          </a:prstGeom>
          <a:solidFill>
            <a:srgbClr val="6B6860">
              <a:alpha val="40000"/>
            </a:srgbClr>
          </a:solidFill>
          <a:ln w="12700">
            <a:solidFill>
              <a:srgbClr val="6B6860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3977640" cy="1444752"/>
          </a:xfrm>
          <a:prstGeom prst="rect">
            <a:avLst/>
          </a:prstGeom>
          <a:solidFill>
            <a:srgbClr val="161616"/>
          </a:solidFill>
          <a:ln w="6350">
            <a:solidFill>
              <a:srgbClr val="1E1E1E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005840"/>
            <a:ext cx="54864" cy="1444752"/>
          </a:xfrm>
          <a:prstGeom prst="rect">
            <a:avLst/>
          </a:prstGeom>
          <a:solidFill>
            <a:srgbClr val="5DCAA5"/>
          </a:solidFill>
          <a:ln w="12700">
            <a:solidFill>
              <a:srgbClr val="5DCA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17043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Mood Detection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58191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E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emotional states with colour-coded tiles and smooth CSS animation feedback on selection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3977640" cy="1444752"/>
          </a:xfrm>
          <a:prstGeom prst="rect">
            <a:avLst/>
          </a:prstGeom>
          <a:solidFill>
            <a:srgbClr val="161616"/>
          </a:solidFill>
          <a:ln w="6350">
            <a:solidFill>
              <a:srgbClr val="1E1E1E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05840"/>
            <a:ext cx="54864" cy="14447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17043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Task Generator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58191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E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engineers Claude to return structured tasks, wellness tips, and a daily affirmation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1480" y="2633472"/>
            <a:ext cx="3977640" cy="1444752"/>
          </a:xfrm>
          <a:prstGeom prst="rect">
            <a:avLst/>
          </a:prstGeom>
          <a:solidFill>
            <a:srgbClr val="161616"/>
          </a:solidFill>
          <a:ln w="6350">
            <a:solidFill>
              <a:srgbClr val="1E1E1E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2633472"/>
            <a:ext cx="54864" cy="1444752"/>
          </a:xfrm>
          <a:prstGeom prst="rect">
            <a:avLst/>
          </a:prstGeom>
          <a:solidFill>
            <a:srgbClr val="F07B5D"/>
          </a:solidFill>
          <a:ln w="12700">
            <a:solidFill>
              <a:srgbClr val="F07B5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79806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Conversational Chat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" y="3209544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E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message history[] sent on every API call — the AI remembers context across the whole session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63440" y="2633472"/>
            <a:ext cx="3977640" cy="1444752"/>
          </a:xfrm>
          <a:prstGeom prst="rect">
            <a:avLst/>
          </a:prstGeom>
          <a:solidFill>
            <a:srgbClr val="161616"/>
          </a:solidFill>
          <a:ln w="6350">
            <a:solidFill>
              <a:srgbClr val="1E1E1E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2633472"/>
            <a:ext cx="54864" cy="1444752"/>
          </a:xfrm>
          <a:prstGeom prst="rect">
            <a:avLst/>
          </a:prstGeom>
          <a:solidFill>
            <a:srgbClr val="E8D5B0"/>
          </a:solidFill>
          <a:ln w="12700">
            <a:solidFill>
              <a:srgbClr val="E8D5B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79806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Session Persistence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46320" y="3209544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E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name and mood log saved to localStorage — survives page refresh with no backend at all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43159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B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built with vanilla JavaScript — no external libraries or npm packages.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2743200"/>
            <a:ext cx="4572000" cy="3657600"/>
          </a:xfrm>
          <a:prstGeom prst="ellipse">
            <a:avLst/>
          </a:prstGeom>
          <a:solidFill>
            <a:srgbClr val="7C3AED">
              <a:alpha val="7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Team : COGNIFORGE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50392"/>
            <a:ext cx="8229600" cy="9144"/>
          </a:xfrm>
          <a:prstGeom prst="rect">
            <a:avLst/>
          </a:prstGeom>
          <a:solidFill>
            <a:srgbClr val="6B6860">
              <a:alpha val="40000"/>
            </a:srgbClr>
          </a:solidFill>
          <a:ln w="12700">
            <a:solidFill>
              <a:srgbClr val="6B6860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1005840"/>
            <a:ext cx="2084832" cy="3611880"/>
          </a:xfrm>
          <a:prstGeom prst="rect">
            <a:avLst/>
          </a:prstGeom>
          <a:solidFill>
            <a:srgbClr val="161616"/>
          </a:solidFill>
          <a:ln w="6350">
            <a:solidFill>
              <a:srgbClr val="1E1E1E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005840"/>
            <a:ext cx="2084832" cy="5029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8136" y="1143000"/>
            <a:ext cx="676656" cy="676656"/>
          </a:xfrm>
          <a:prstGeom prst="ellipse">
            <a:avLst/>
          </a:prstGeom>
          <a:solidFill>
            <a:srgbClr val="A78BFA">
              <a:alpha val="20000"/>
            </a:srgbClr>
          </a:solidFill>
          <a:ln w="1016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8" name="Text 6"/>
          <p:cNvSpPr/>
          <p:nvPr/>
        </p:nvSpPr>
        <p:spPr>
          <a:xfrm>
            <a:off x="1088136" y="1143000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78BFA"/>
                </a:solidFill>
                <a:latin typeface="Georgia" pitchFamily="34" charset="0"/>
              </a:rPr>
              <a:t>LEAD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1920240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EDE8"/>
                </a:solidFill>
                <a:latin typeface="Georgia" pitchFamily="34" charset="0"/>
              </a:rPr>
              <a:t>PIYUSH KOLTE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" y="2249424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 &amp; Frontend Lead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66928" y="2724912"/>
            <a:ext cx="1719072" cy="7315"/>
          </a:xfrm>
          <a:prstGeom prst="rect">
            <a:avLst/>
          </a:prstGeom>
          <a:solidFill>
            <a:srgbClr val="6B6860">
              <a:alpha val="30000"/>
            </a:srgbClr>
          </a:solidFill>
          <a:ln w="12700">
            <a:solidFill>
              <a:srgbClr val="6B6860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9496" y="2871216"/>
            <a:ext cx="82296" cy="8229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2816352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E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integration &amp; prompt engineering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39496" y="3438144"/>
            <a:ext cx="82296" cy="8229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" y="3383280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E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Multi-screen SPA architecture &amp; JS routing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39496" y="4005072"/>
            <a:ext cx="82296" cy="8229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3950208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E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Mood-to-API pipeline &amp; response parsing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24912" y="1005840"/>
            <a:ext cx="2084832" cy="3611880"/>
          </a:xfrm>
          <a:prstGeom prst="rect">
            <a:avLst/>
          </a:prstGeom>
          <a:solidFill>
            <a:srgbClr val="161616"/>
          </a:solidFill>
          <a:ln w="6350">
            <a:solidFill>
              <a:srgbClr val="1E1E1E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24912" y="1005840"/>
            <a:ext cx="2084832" cy="50292"/>
          </a:xfrm>
          <a:prstGeom prst="rect">
            <a:avLst/>
          </a:prstGeom>
          <a:solidFill>
            <a:srgbClr val="5DCAA5"/>
          </a:solidFill>
          <a:ln w="12700">
            <a:solidFill>
              <a:srgbClr val="5DCAA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29000" y="1143000"/>
            <a:ext cx="676656" cy="676656"/>
          </a:xfrm>
          <a:prstGeom prst="ellipse">
            <a:avLst/>
          </a:prstGeom>
          <a:solidFill>
            <a:srgbClr val="5DCAA5">
              <a:alpha val="20000"/>
            </a:srgbClr>
          </a:solidFill>
          <a:ln w="10160">
            <a:solidFill>
              <a:srgbClr val="5DCA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29000" y="1143000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5DCAA5"/>
                </a:solidFill>
                <a:latin typeface="Georgia" pitchFamily="34" charset="0"/>
              </a:rPr>
              <a:t>M1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816352" y="1920240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EDE8"/>
                </a:solidFill>
                <a:latin typeface="Georgia" pitchFamily="34" charset="0"/>
              </a:rPr>
              <a:t>KUNAL MORE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816352" y="2249424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Research &amp; Mood Logic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907792" y="2724912"/>
            <a:ext cx="1719072" cy="7315"/>
          </a:xfrm>
          <a:prstGeom prst="rect">
            <a:avLst/>
          </a:prstGeom>
          <a:solidFill>
            <a:srgbClr val="6B6860">
              <a:alpha val="30000"/>
            </a:srgbClr>
          </a:solidFill>
          <a:ln w="12700">
            <a:solidFill>
              <a:srgbClr val="6B6860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80360" y="2871216"/>
            <a:ext cx="82296" cy="82296"/>
          </a:xfrm>
          <a:prstGeom prst="ellipse">
            <a:avLst/>
          </a:prstGeom>
          <a:solidFill>
            <a:srgbClr val="5DCAA5"/>
          </a:solidFill>
          <a:ln w="12700">
            <a:solidFill>
              <a:srgbClr val="5DCAA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08376" y="2816352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E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 category research &amp; emotion mapping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880360" y="3438144"/>
            <a:ext cx="82296" cy="82296"/>
          </a:xfrm>
          <a:prstGeom prst="ellipse">
            <a:avLst/>
          </a:prstGeom>
          <a:solidFill>
            <a:srgbClr val="5DCAA5"/>
          </a:solidFill>
          <a:ln w="12700">
            <a:solidFill>
              <a:srgbClr val="5DCAA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08376" y="3383280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E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flow design &amp; screen wireframing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880360" y="4005072"/>
            <a:ext cx="82296" cy="82296"/>
          </a:xfrm>
          <a:prstGeom prst="ellipse">
            <a:avLst/>
          </a:prstGeom>
          <a:solidFill>
            <a:srgbClr val="5DCAA5"/>
          </a:solidFill>
          <a:ln w="12700">
            <a:solidFill>
              <a:srgbClr val="5DCAA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08376" y="3950208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E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 tile interaction &amp; feedback design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065776" y="1005840"/>
            <a:ext cx="2084832" cy="3611880"/>
          </a:xfrm>
          <a:prstGeom prst="rect">
            <a:avLst/>
          </a:prstGeom>
          <a:solidFill>
            <a:srgbClr val="161616"/>
          </a:solidFill>
          <a:ln w="6350">
            <a:solidFill>
              <a:srgbClr val="1E1E1E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065776" y="1005840"/>
            <a:ext cx="2084832" cy="50292"/>
          </a:xfrm>
          <a:prstGeom prst="rect">
            <a:avLst/>
          </a:prstGeom>
          <a:solidFill>
            <a:srgbClr val="F07B5D"/>
          </a:solidFill>
          <a:ln w="12700">
            <a:solidFill>
              <a:srgbClr val="F07B5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769864" y="1143000"/>
            <a:ext cx="676656" cy="676656"/>
          </a:xfrm>
          <a:prstGeom prst="ellipse">
            <a:avLst/>
          </a:prstGeom>
          <a:solidFill>
            <a:srgbClr val="F07B5D">
              <a:alpha val="20000"/>
            </a:srgbClr>
          </a:solidFill>
          <a:ln w="10160">
            <a:solidFill>
              <a:srgbClr val="F07B5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69864" y="1143000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07B5D"/>
                </a:solidFill>
                <a:latin typeface="Georgia" pitchFamily="34" charset="0"/>
              </a:rPr>
              <a:t>M2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157216" y="1920240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EDE8"/>
                </a:solidFill>
                <a:latin typeface="Georgia" pitchFamily="34" charset="0"/>
              </a:rPr>
              <a:t>KAUSHAL PATIL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157216" y="2249424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07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Design &amp; CSS System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248656" y="2724912"/>
            <a:ext cx="1719072" cy="7315"/>
          </a:xfrm>
          <a:prstGeom prst="rect">
            <a:avLst/>
          </a:prstGeom>
          <a:solidFill>
            <a:srgbClr val="6B6860">
              <a:alpha val="30000"/>
            </a:srgbClr>
          </a:solidFill>
          <a:ln w="12700">
            <a:solidFill>
              <a:srgbClr val="6B6860">
                <a:alpha val="3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221224" y="2871216"/>
            <a:ext cx="82296" cy="82296"/>
          </a:xfrm>
          <a:prstGeom prst="ellipse">
            <a:avLst/>
          </a:prstGeom>
          <a:solidFill>
            <a:srgbClr val="F07B5D"/>
          </a:solidFill>
          <a:ln w="12700">
            <a:solidFill>
              <a:srgbClr val="F07B5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49240" y="2816352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E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theme design &amp; CSS variables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221224" y="3438144"/>
            <a:ext cx="82296" cy="82296"/>
          </a:xfrm>
          <a:prstGeom prst="ellipse">
            <a:avLst/>
          </a:prstGeom>
          <a:solidFill>
            <a:srgbClr val="F07B5D"/>
          </a:solidFill>
          <a:ln w="12700">
            <a:solidFill>
              <a:srgbClr val="F07B5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49240" y="3383280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E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Animations, transitions &amp; hover effects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221224" y="4005072"/>
            <a:ext cx="82296" cy="82296"/>
          </a:xfrm>
          <a:prstGeom prst="ellipse">
            <a:avLst/>
          </a:prstGeom>
          <a:solidFill>
            <a:srgbClr val="F07B5D"/>
          </a:solidFill>
          <a:ln w="12700">
            <a:solidFill>
              <a:srgbClr val="F07B5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49240" y="3950208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E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layout &amp; mobile adaptation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406640" y="1005840"/>
            <a:ext cx="2084832" cy="3611880"/>
          </a:xfrm>
          <a:prstGeom prst="rect">
            <a:avLst/>
          </a:prstGeom>
          <a:solidFill>
            <a:srgbClr val="161616"/>
          </a:solidFill>
          <a:ln w="6350">
            <a:solidFill>
              <a:srgbClr val="1E1E1E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7406640" y="1005840"/>
            <a:ext cx="2084832" cy="50292"/>
          </a:xfrm>
          <a:prstGeom prst="rect">
            <a:avLst/>
          </a:prstGeom>
          <a:solidFill>
            <a:srgbClr val="E8D5B0"/>
          </a:solidFill>
          <a:ln w="12700">
            <a:solidFill>
              <a:srgbClr val="E8D5B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110728" y="1143000"/>
            <a:ext cx="676656" cy="676656"/>
          </a:xfrm>
          <a:prstGeom prst="ellipse">
            <a:avLst/>
          </a:prstGeom>
          <a:solidFill>
            <a:srgbClr val="E8D5B0">
              <a:alpha val="20000"/>
            </a:srgbClr>
          </a:solidFill>
          <a:ln w="10160">
            <a:solidFill>
              <a:srgbClr val="E8D5B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110728" y="1143000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E8D5B0"/>
                </a:solidFill>
                <a:latin typeface="Georgia" pitchFamily="34" charset="0"/>
              </a:rPr>
              <a:t>M3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7498080" y="1920240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EDE8"/>
                </a:solidFill>
                <a:latin typeface="Georgia" pitchFamily="34" charset="0"/>
              </a:rPr>
              <a:t>KARTIK KAMBLE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498080" y="2249424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 &amp; Testing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7589520" y="2724912"/>
            <a:ext cx="1719072" cy="7315"/>
          </a:xfrm>
          <a:prstGeom prst="rect">
            <a:avLst/>
          </a:prstGeom>
          <a:solidFill>
            <a:srgbClr val="6B6860">
              <a:alpha val="30000"/>
            </a:srgbClr>
          </a:solidFill>
          <a:ln w="12700">
            <a:solidFill>
              <a:srgbClr val="6B6860">
                <a:alpha val="3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562088" y="2871216"/>
            <a:ext cx="82296" cy="82296"/>
          </a:xfrm>
          <a:prstGeom prst="ellipse">
            <a:avLst/>
          </a:prstGeom>
          <a:solidFill>
            <a:srgbClr val="E8D5B0"/>
          </a:solidFill>
          <a:ln w="12700">
            <a:solidFill>
              <a:srgbClr val="E8D5B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690104" y="2816352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E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data architecture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7562088" y="3438144"/>
            <a:ext cx="82296" cy="82296"/>
          </a:xfrm>
          <a:prstGeom prst="ellipse">
            <a:avLst/>
          </a:prstGeom>
          <a:solidFill>
            <a:srgbClr val="E8D5B0"/>
          </a:solidFill>
          <a:ln w="12700">
            <a:solidFill>
              <a:srgbClr val="E8D5B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90104" y="3383280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E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name persistence &amp; session logic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7562088" y="4005072"/>
            <a:ext cx="82296" cy="82296"/>
          </a:xfrm>
          <a:prstGeom prst="ellipse">
            <a:avLst/>
          </a:prstGeom>
          <a:solidFill>
            <a:srgbClr val="E8D5B0"/>
          </a:solidFill>
          <a:ln w="12700">
            <a:solidFill>
              <a:srgbClr val="E8D5B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690104" y="3950208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E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Cross-browser testing &amp; bug fixes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2743200"/>
            <a:ext cx="3657600" cy="3200400"/>
          </a:xfrm>
          <a:prstGeom prst="ellipse">
            <a:avLst/>
          </a:prstGeom>
          <a:solidFill>
            <a:srgbClr val="0D9488">
              <a:alpha val="8000"/>
            </a:srgbClr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 : STEP’S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50392"/>
            <a:ext cx="8229600" cy="9144"/>
          </a:xfrm>
          <a:prstGeom prst="rect">
            <a:avLst/>
          </a:prstGeom>
          <a:solidFill>
            <a:srgbClr val="6B6860">
              <a:alpha val="40000"/>
            </a:srgbClr>
          </a:solidFill>
          <a:ln w="12700">
            <a:solidFill>
              <a:srgbClr val="6B6860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0" y="2139696"/>
            <a:ext cx="438912" cy="201168"/>
          </a:xfrm>
          <a:prstGeom prst="roundRect">
            <a:avLst>
              <a:gd name="adj" fmla="val 22727"/>
            </a:avLst>
          </a:prstGeom>
          <a:solidFill>
            <a:srgbClr val="6B6860">
              <a:alpha val="50000"/>
            </a:srgbClr>
          </a:solidFill>
          <a:ln w="12700">
            <a:solidFill>
              <a:srgbClr val="6B6860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0" y="2139696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E9A94"/>
                </a:solidFill>
              </a:rPr>
              <a:t>›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84048" y="1005840"/>
            <a:ext cx="1600200" cy="2560320"/>
          </a:xfrm>
          <a:prstGeom prst="rect">
            <a:avLst/>
          </a:prstGeom>
          <a:solidFill>
            <a:srgbClr val="161616"/>
          </a:solidFill>
          <a:ln w="6350">
            <a:solidFill>
              <a:srgbClr val="1E1E1E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1005840"/>
            <a:ext cx="1600200" cy="5029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115568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548640" y="1865376"/>
            <a:ext cx="1271016" cy="7315"/>
          </a:xfrm>
          <a:prstGeom prst="rect">
            <a:avLst/>
          </a:prstGeom>
          <a:solidFill>
            <a:srgbClr val="6B6860">
              <a:alpha val="30000"/>
            </a:srgbClr>
          </a:solidFill>
          <a:ln w="12700">
            <a:solidFill>
              <a:srgbClr val="6B6860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993392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app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" y="2505456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E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saved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E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localStorage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803904" y="2139696"/>
            <a:ext cx="438912" cy="201168"/>
          </a:xfrm>
          <a:prstGeom prst="roundRect">
            <a:avLst>
              <a:gd name="adj" fmla="val 22727"/>
            </a:avLst>
          </a:prstGeom>
          <a:solidFill>
            <a:srgbClr val="6B6860">
              <a:alpha val="50000"/>
            </a:srgbClr>
          </a:solidFill>
          <a:ln w="12700">
            <a:solidFill>
              <a:srgbClr val="6B6860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03904" y="2139696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E9A94"/>
                </a:solidFill>
              </a:rPr>
              <a:t>›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176272" y="1005840"/>
            <a:ext cx="1600200" cy="2560320"/>
          </a:xfrm>
          <a:prstGeom prst="rect">
            <a:avLst/>
          </a:prstGeom>
          <a:solidFill>
            <a:srgbClr val="161616"/>
          </a:solidFill>
          <a:ln w="6350">
            <a:solidFill>
              <a:srgbClr val="1E1E1E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176272" y="1005840"/>
            <a:ext cx="1600200" cy="50292"/>
          </a:xfrm>
          <a:prstGeom prst="rect">
            <a:avLst/>
          </a:prstGeom>
          <a:solidFill>
            <a:srgbClr val="5DCAA5"/>
          </a:solidFill>
          <a:ln w="12700">
            <a:solidFill>
              <a:srgbClr val="5DCA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67712" y="1115568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5DCA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18" name="Shape 16"/>
          <p:cNvSpPr/>
          <p:nvPr/>
        </p:nvSpPr>
        <p:spPr>
          <a:xfrm>
            <a:off x="2340864" y="1865376"/>
            <a:ext cx="1271016" cy="7315"/>
          </a:xfrm>
          <a:prstGeom prst="rect">
            <a:avLst/>
          </a:prstGeom>
          <a:solidFill>
            <a:srgbClr val="6B6860">
              <a:alpha val="30000"/>
            </a:srgbClr>
          </a:solidFill>
          <a:ln w="12700">
            <a:solidFill>
              <a:srgbClr val="6B6860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67712" y="1993392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mood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267712" y="2505456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E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emotional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E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available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596128" y="2139696"/>
            <a:ext cx="438912" cy="201168"/>
          </a:xfrm>
          <a:prstGeom prst="roundRect">
            <a:avLst>
              <a:gd name="adj" fmla="val 22727"/>
            </a:avLst>
          </a:prstGeom>
          <a:solidFill>
            <a:srgbClr val="6B6860">
              <a:alpha val="50000"/>
            </a:srgbClr>
          </a:solidFill>
          <a:ln w="12700">
            <a:solidFill>
              <a:srgbClr val="6B6860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96128" y="2139696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E9A94"/>
                </a:solidFill>
              </a:rPr>
              <a:t>›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968496" y="1005840"/>
            <a:ext cx="1600200" cy="2560320"/>
          </a:xfrm>
          <a:prstGeom prst="rect">
            <a:avLst/>
          </a:prstGeom>
          <a:solidFill>
            <a:srgbClr val="161616"/>
          </a:solidFill>
          <a:ln w="6350">
            <a:solidFill>
              <a:srgbClr val="1E1E1E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968496" y="1005840"/>
            <a:ext cx="1600200" cy="50292"/>
          </a:xfrm>
          <a:prstGeom prst="rect">
            <a:avLst/>
          </a:prstGeom>
          <a:solidFill>
            <a:srgbClr val="E8D5B0"/>
          </a:solidFill>
          <a:ln w="12700">
            <a:solidFill>
              <a:srgbClr val="E8D5B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59936" y="1115568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D5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26" name="Shape 24"/>
          <p:cNvSpPr/>
          <p:nvPr/>
        </p:nvSpPr>
        <p:spPr>
          <a:xfrm>
            <a:off x="4133088" y="1865376"/>
            <a:ext cx="1271016" cy="7315"/>
          </a:xfrm>
          <a:prstGeom prst="rect">
            <a:avLst/>
          </a:prstGeom>
          <a:solidFill>
            <a:srgbClr val="6B6860">
              <a:alpha val="30000"/>
            </a:srgbClr>
          </a:solidFill>
          <a:ln w="12700">
            <a:solidFill>
              <a:srgbClr val="6B6860">
                <a:alpha val="3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59936" y="1993392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call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059936" y="2505456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E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E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mood sent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388352" y="2139696"/>
            <a:ext cx="438912" cy="201168"/>
          </a:xfrm>
          <a:prstGeom prst="roundRect">
            <a:avLst>
              <a:gd name="adj" fmla="val 22727"/>
            </a:avLst>
          </a:prstGeom>
          <a:solidFill>
            <a:srgbClr val="6B6860">
              <a:alpha val="50000"/>
            </a:srgbClr>
          </a:solidFill>
          <a:ln w="12700">
            <a:solidFill>
              <a:srgbClr val="6B6860">
                <a:alpha val="5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88352" y="2139696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E9A94"/>
                </a:solidFill>
              </a:rPr>
              <a:t>›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760720" y="1005840"/>
            <a:ext cx="1600200" cy="2560320"/>
          </a:xfrm>
          <a:prstGeom prst="rect">
            <a:avLst/>
          </a:prstGeom>
          <a:solidFill>
            <a:srgbClr val="161616"/>
          </a:solidFill>
          <a:ln w="6350">
            <a:solidFill>
              <a:srgbClr val="1E1E1E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760720" y="1005840"/>
            <a:ext cx="1600200" cy="50292"/>
          </a:xfrm>
          <a:prstGeom prst="rect">
            <a:avLst/>
          </a:prstGeom>
          <a:solidFill>
            <a:srgbClr val="F07B5D"/>
          </a:solidFill>
          <a:ln w="12700">
            <a:solidFill>
              <a:srgbClr val="F07B5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52160" y="1115568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07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200" dirty="0"/>
          </a:p>
        </p:txBody>
      </p:sp>
      <p:sp>
        <p:nvSpPr>
          <p:cNvPr id="34" name="Shape 32"/>
          <p:cNvSpPr/>
          <p:nvPr/>
        </p:nvSpPr>
        <p:spPr>
          <a:xfrm>
            <a:off x="5925312" y="1865376"/>
            <a:ext cx="1271016" cy="7315"/>
          </a:xfrm>
          <a:prstGeom prst="rect">
            <a:avLst/>
          </a:prstGeom>
          <a:solidFill>
            <a:srgbClr val="6B6860">
              <a:alpha val="30000"/>
            </a:srgbClr>
          </a:solidFill>
          <a:ln w="12700">
            <a:solidFill>
              <a:srgbClr val="6B6860">
                <a:alpha val="3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52160" y="1993392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responds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852160" y="2505456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E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Tasks, tips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E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affirmation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552944" y="1005840"/>
            <a:ext cx="1600200" cy="2560320"/>
          </a:xfrm>
          <a:prstGeom prst="rect">
            <a:avLst/>
          </a:prstGeom>
          <a:solidFill>
            <a:srgbClr val="161616"/>
          </a:solidFill>
          <a:ln w="6350">
            <a:solidFill>
              <a:srgbClr val="1E1E1E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552944" y="1005840"/>
            <a:ext cx="1600200" cy="5029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44384" y="1115568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200" dirty="0"/>
          </a:p>
        </p:txBody>
      </p:sp>
      <p:sp>
        <p:nvSpPr>
          <p:cNvPr id="40" name="Shape 38"/>
          <p:cNvSpPr/>
          <p:nvPr/>
        </p:nvSpPr>
        <p:spPr>
          <a:xfrm>
            <a:off x="7717536" y="1865376"/>
            <a:ext cx="1271016" cy="7315"/>
          </a:xfrm>
          <a:prstGeom prst="rect">
            <a:avLst/>
          </a:prstGeom>
          <a:solidFill>
            <a:srgbClr val="6B6860">
              <a:alpha val="30000"/>
            </a:srgbClr>
          </a:solidFill>
          <a:ln w="12700">
            <a:solidFill>
              <a:srgbClr val="6B6860">
                <a:alpha val="3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44384" y="1993392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on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644384" y="2505456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E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history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E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maintained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11480" y="3913632"/>
            <a:ext cx="8321040" cy="658368"/>
          </a:xfrm>
          <a:prstGeom prst="rect">
            <a:avLst/>
          </a:prstGeom>
          <a:solidFill>
            <a:srgbClr val="1E1E1E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4360" y="3959352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E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remembers context because the full conversation history[] array is sent on every API request — the same architecture used by ChatGPT.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4572000" cy="3657600"/>
          </a:xfrm>
          <a:prstGeom prst="ellipse">
            <a:avLst/>
          </a:prstGeom>
          <a:solidFill>
            <a:srgbClr val="BE185D">
              <a:alpha val="8000"/>
            </a:srgbClr>
          </a:solidFill>
          <a:ln w="12700">
            <a:solidFill>
              <a:srgbClr val="BE185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Features TO upgrade in future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50392"/>
            <a:ext cx="8229600" cy="9144"/>
          </a:xfrm>
          <a:prstGeom prst="rect">
            <a:avLst/>
          </a:prstGeom>
          <a:solidFill>
            <a:srgbClr val="6B6860">
              <a:alpha val="40000"/>
            </a:srgbClr>
          </a:solidFill>
          <a:ln w="12700">
            <a:solidFill>
              <a:srgbClr val="6B6860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7361" y="1005840"/>
            <a:ext cx="3977640" cy="1444752"/>
          </a:xfrm>
          <a:prstGeom prst="rect">
            <a:avLst/>
          </a:prstGeom>
          <a:solidFill>
            <a:srgbClr val="161616"/>
          </a:solidFill>
          <a:ln w="6350">
            <a:solidFill>
              <a:srgbClr val="1E1E1E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005840"/>
            <a:ext cx="54864" cy="1444752"/>
          </a:xfrm>
          <a:prstGeom prst="rect">
            <a:avLst/>
          </a:prstGeom>
          <a:solidFill>
            <a:srgbClr val="5DCAA5"/>
          </a:solidFill>
          <a:ln w="12700">
            <a:solidFill>
              <a:srgbClr val="5DCA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17043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2">
                    <a:lumMod val="90000"/>
                  </a:schemeClr>
                </a:solidFill>
              </a:rPr>
              <a:t>🔐 Real Authentication with Node.js + JWT</a:t>
            </a:r>
          </a:p>
        </p:txBody>
      </p:sp>
      <p:sp>
        <p:nvSpPr>
          <p:cNvPr id="8" name="Text 6"/>
          <p:cNvSpPr/>
          <p:nvPr/>
        </p:nvSpPr>
        <p:spPr>
          <a:xfrm>
            <a:off x="594360" y="158191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Runs your server and handles all incoming requests from the frontend</a:t>
            </a:r>
            <a:endParaRPr lang="en-US" sz="115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3977640" cy="1444752"/>
          </a:xfrm>
          <a:prstGeom prst="rect">
            <a:avLst/>
          </a:prstGeom>
          <a:solidFill>
            <a:srgbClr val="161616"/>
          </a:solidFill>
          <a:ln w="6350">
            <a:solidFill>
              <a:srgbClr val="1E1E1E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05840"/>
            <a:ext cx="54864" cy="14447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17043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/>
              <a:t>🗄️ </a:t>
            </a:r>
            <a:r>
              <a:rPr lang="en-US" sz="1400" b="1" dirty="0">
                <a:solidFill>
                  <a:schemeClr val="bg2">
                    <a:lumMod val="90000"/>
                  </a:schemeClr>
                </a:solidFill>
              </a:rPr>
              <a:t>Database for Mood History (MongoDB /        Firebase)</a:t>
            </a:r>
          </a:p>
        </p:txBody>
      </p:sp>
      <p:sp>
        <p:nvSpPr>
          <p:cNvPr id="12" name="Text 10"/>
          <p:cNvSpPr/>
          <p:nvPr/>
        </p:nvSpPr>
        <p:spPr>
          <a:xfrm>
            <a:off x="4846320" y="158191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Saves user data and mood history permanently in a real database, accessible from any device</a:t>
            </a:r>
            <a:endParaRPr lang="en-US" sz="115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11480" y="2633472"/>
            <a:ext cx="3977640" cy="1444752"/>
          </a:xfrm>
          <a:prstGeom prst="rect">
            <a:avLst/>
          </a:prstGeom>
          <a:solidFill>
            <a:srgbClr val="161616"/>
          </a:solidFill>
          <a:ln w="6350">
            <a:solidFill>
              <a:srgbClr val="1E1E1E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2633472"/>
            <a:ext cx="54864" cy="1444752"/>
          </a:xfrm>
          <a:prstGeom prst="rect">
            <a:avLst/>
          </a:prstGeom>
          <a:solidFill>
            <a:srgbClr val="F07B5D"/>
          </a:solidFill>
          <a:ln w="12700">
            <a:solidFill>
              <a:srgbClr val="F07B5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79806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2">
                    <a:lumMod val="90000"/>
                  </a:schemeClr>
                </a:solidFill>
              </a:rPr>
              <a:t>🌐 REST API with Express.js</a:t>
            </a:r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 </a:t>
            </a:r>
          </a:p>
        </p:txBody>
      </p:sp>
      <p:sp>
        <p:nvSpPr>
          <p:cNvPr id="16" name="Text 14"/>
          <p:cNvSpPr/>
          <p:nvPr/>
        </p:nvSpPr>
        <p:spPr>
          <a:xfrm>
            <a:off x="594360" y="3209544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Hides your Claude API key on the server so it never gets exposed in the browser</a:t>
            </a:r>
            <a:endParaRPr lang="en-US" sz="115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663440" y="2633472"/>
            <a:ext cx="3977640" cy="1444752"/>
          </a:xfrm>
          <a:prstGeom prst="rect">
            <a:avLst/>
          </a:prstGeom>
          <a:solidFill>
            <a:srgbClr val="161616"/>
          </a:solidFill>
          <a:ln w="6350">
            <a:solidFill>
              <a:srgbClr val="1E1E1E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2633472"/>
            <a:ext cx="54864" cy="1444752"/>
          </a:xfrm>
          <a:prstGeom prst="rect">
            <a:avLst/>
          </a:prstGeom>
          <a:solidFill>
            <a:srgbClr val="E8D5B0"/>
          </a:solidFill>
          <a:ln w="12700">
            <a:solidFill>
              <a:srgbClr val="E8D5B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79806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2">
                    <a:lumMod val="90000"/>
                  </a:schemeClr>
                </a:solidFill>
              </a:rPr>
              <a:t>📊 Analytics Dashboard with Python + </a:t>
            </a:r>
            <a:r>
              <a:rPr lang="en-US" sz="1400" b="1" dirty="0" err="1">
                <a:solidFill>
                  <a:schemeClr val="bg2">
                    <a:lumMod val="90000"/>
                  </a:schemeClr>
                </a:solidFill>
              </a:rPr>
              <a:t>FastAPI</a:t>
            </a:r>
            <a:r>
              <a:rPr lang="en-US" sz="14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</a:p>
        </p:txBody>
      </p:sp>
      <p:sp>
        <p:nvSpPr>
          <p:cNvPr id="20" name="Text 18"/>
          <p:cNvSpPr/>
          <p:nvPr/>
        </p:nvSpPr>
        <p:spPr>
          <a:xfrm>
            <a:off x="4846320" y="3209544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Analyses all user mood data and displays trends in an interactive admin dashboard</a:t>
            </a:r>
            <a:endParaRPr lang="en-US" sz="115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457200" y="43159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B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features we are going to build – in future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1486149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914400"/>
            <a:ext cx="7315200" cy="5486400"/>
          </a:xfrm>
          <a:prstGeom prst="ellipse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1828800"/>
            <a:ext cx="5486400" cy="4572000"/>
          </a:xfrm>
          <a:prstGeom prst="ellipse">
            <a:avLst/>
          </a:prstGeom>
          <a:solidFill>
            <a:srgbClr val="BE185D">
              <a:alpha val="10000"/>
            </a:srgbClr>
          </a:solidFill>
          <a:ln w="12700">
            <a:solidFill>
              <a:srgbClr val="BE185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972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i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9E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We'd love to walk you through the code.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71600" y="3108960"/>
            <a:ext cx="2011680" cy="1188720"/>
          </a:xfrm>
          <a:prstGeom prst="rect">
            <a:avLst/>
          </a:prstGeom>
          <a:solidFill>
            <a:srgbClr val="161616"/>
          </a:solidFill>
          <a:ln w="6350">
            <a:solidFill>
              <a:srgbClr val="1E1E1E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0" y="3108960"/>
            <a:ext cx="2011680" cy="5029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321868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371600" y="37673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E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file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40480" y="3108960"/>
            <a:ext cx="2011680" cy="1188720"/>
          </a:xfrm>
          <a:prstGeom prst="rect">
            <a:avLst/>
          </a:prstGeom>
          <a:solidFill>
            <a:srgbClr val="161616"/>
          </a:solidFill>
          <a:ln w="6350">
            <a:solidFill>
              <a:srgbClr val="1E1E1E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40480" y="3108960"/>
            <a:ext cx="2011680" cy="50292"/>
          </a:xfrm>
          <a:prstGeom prst="rect">
            <a:avLst/>
          </a:prstGeom>
          <a:solidFill>
            <a:srgbClr val="5DCAA5"/>
          </a:solidFill>
          <a:ln w="12700">
            <a:solidFill>
              <a:srgbClr val="5DCA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321868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DCAA5"/>
                </a:solidFill>
                <a:latin typeface="Georgia" pitchFamily="34" charset="0"/>
              </a:rPr>
              <a:t>0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840480" y="37673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E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3108960"/>
            <a:ext cx="2011680" cy="1188720"/>
          </a:xfrm>
          <a:prstGeom prst="rect">
            <a:avLst/>
          </a:prstGeom>
          <a:solidFill>
            <a:srgbClr val="161616"/>
          </a:solidFill>
          <a:ln w="6350">
            <a:solidFill>
              <a:srgbClr val="1E1E1E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3108960"/>
            <a:ext cx="2011680" cy="50292"/>
          </a:xfrm>
          <a:prstGeom prst="rect">
            <a:avLst/>
          </a:prstGeom>
          <a:solidFill>
            <a:srgbClr val="E8D5B0"/>
          </a:solidFill>
          <a:ln w="12700">
            <a:solidFill>
              <a:srgbClr val="E8D5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321868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D5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API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309360" y="37673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E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Moodie bot  —  AI Mood Companion  |  GVAIET, </a:t>
            </a:r>
            <a:r>
              <a:rPr lang="en-US" sz="900" dirty="0" err="1">
                <a:solidFill>
                  <a:srgbClr val="6B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Shelu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731</TotalTime>
  <Words>565</Words>
  <Application>Microsoft Office PowerPoint</Application>
  <PresentationFormat>On-screen Show (16:9)</PresentationFormat>
  <Paragraphs>129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Moodie — AI Mood Companion</dc:title>
  <dc:subject>PptxGenJS Presentation</dc:subject>
  <dc:creator>PptxGenJS</dc:creator>
  <cp:lastModifiedBy>piuushhh2705@gmail.com</cp:lastModifiedBy>
  <cp:revision>5</cp:revision>
  <dcterms:created xsi:type="dcterms:W3CDTF">2026-03-19T16:24:15Z</dcterms:created>
  <dcterms:modified xsi:type="dcterms:W3CDTF">2026-03-20T04:41:20Z</dcterms:modified>
</cp:coreProperties>
</file>